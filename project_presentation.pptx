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0" y="1371600"/>
            <a:ext cx="8503920" cy="4114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03120" y="164592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CC9F0"/>
                </a:solidFill>
              </a:defRPr>
            </a:pPr>
            <a:r>
              <a:t>Real-Time Big Data Analytics Pipeline</a:t>
            </a:r>
            <a:br/>
            <a:r>
              <a:t>for Fraud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320040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B949E"/>
                </a:solidFill>
              </a:defRPr>
            </a:pPr>
            <a:r>
              <a:t>CSDS4473 — Big Data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384048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6EDF3"/>
                </a:solidFill>
              </a:defRPr>
            </a:pPr>
            <a:r>
              <a:t>Use Case: Financial Fraud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457200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</a:defRPr>
            </a:pPr>
            <a:r>
              <a:t>Group Members: ________, ________, 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CC9F0"/>
                </a:solidFill>
              </a:defRPr>
            </a:pPr>
            <a:r>
              <a:t>Problem Statement &amp; Use Case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5029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Financial fraud costs banks billions annually worldwide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Traditional rule-based systems can't keep up with evolving fraud patterns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Need: Real-time fraud detection with high accuracy at scale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Use Case: Financial Fraud Detection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  - Card Skimming, Account Takeover, Synthetic ID Fraud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  - Phishing, Money Mule, Card-Not-Present Fraud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CC9F0"/>
                </a:solidFill>
              </a:defRPr>
            </a:pPr>
            <a:r>
              <a:t>System Architecture — 4-Layer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10972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2585"/>
                </a:solidFill>
              </a:defRPr>
            </a:pPr>
            <a:r>
              <a:t>Layer 1: Data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</a:defRPr>
            </a:pPr>
            <a:r>
              <a:t>Kafka Producers → Kafka Topics (txn.raw, fraud.alerts)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11247120" cy="10972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2585"/>
                </a:solidFill>
              </a:defRPr>
            </a:pPr>
            <a:r>
              <a:t>Layer 2: Stream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</a:defRPr>
            </a:pPr>
            <a:r>
              <a:t>PySpark Structured Streaming → Enrichment &amp; Windowing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23360"/>
            <a:ext cx="11247120" cy="10972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2585"/>
                </a:solidFill>
              </a:defRPr>
            </a:pPr>
            <a:r>
              <a:t>Layer 3: ML 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</a:defRPr>
            </a:pPr>
            <a:r>
              <a:t>Isolation Forest + XGBoost + LSTM → Ensemble Voting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303519"/>
            <a:ext cx="11247120" cy="10972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3949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2585"/>
                </a:solidFill>
              </a:defRPr>
            </a:pPr>
            <a:r>
              <a:t>Layer 4: Storage &amp; Viz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52159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</a:defRPr>
            </a:pPr>
            <a:r>
              <a:t>PostgreSQL + Redis + MongoDB + Matplotlib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CC9F0"/>
                </a:solidFill>
              </a:defRPr>
            </a:pPr>
            <a:r>
              <a:t>Dataset — Synthetic Financial Transactions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5029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Type: Synthetic data generated by custom TransactionProducer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Size: 10,000+ records with ~6-10% fraud rate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Generation: Deterministic pseudo-random (seed=42 for reproducibility)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16 Fields per Transaction: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  transaction_id, timestamp, amount ($0.50-$50,000), merchant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  region (6 regions), channel (5 types), fraud_type (6 types)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  risk_score, status, user_id, is_fraud (ground truth label)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  latitude, longitude, device_id, ip_address, processing_ms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CC9F0"/>
                </a:solidFill>
              </a:defRPr>
            </a:pPr>
            <a:r>
              <a:t>Apache Kafka — Real-Time Streaming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5029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4 Kafka Topics with multiple partitions for scalability: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  - txn.raw (24 partitions): Raw incoming transactions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  - txn.enriched (12 partitions): Spark-processed data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  - fraud.alerts (6 partitions): High-risk fraud alerts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  - model.predictions (8 partitions): ML results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Producer generates 1 transaction every 800ms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Consumer processes with auto-commit (5s intervals)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Kafka ensures fault-tolerant, ordered message delivery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CC9F0"/>
                </a:solidFill>
              </a:defRPr>
            </a:pPr>
            <a:r>
              <a:t>Apache Spark — Stream Processing (PySpark)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5029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PySpark Structured Streaming reads from Kafka (txn.raw)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JSON parsed using strict schema with 16 typed fields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Transformations Applied: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  - amount_category: HIGH (&gt;$1000) / MEDIUM / LOW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  - is_cross_border: flag for international transactions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  - risk_level: CRITICAL / HIGH / MEDIUM / LOW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  - Windowed aggregation: fraud counts by region every 10s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Output: Enriched data to txn.enriched + console analytics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Batch ETL: 100-record batches to PostgreSQL + Redis + MongoDB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CC9F0"/>
                </a:solidFill>
              </a:defRPr>
            </a:pPr>
            <a:r>
              <a:t>Feature Engineering — 12 Behavioral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5029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1. transaction_amount       7. amount_vs_avg_30d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2. velocity_1h              8. channel_frequency_score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3. merchant_risk_score      9. hour_of_day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4. geo_anomaly_score       10. day_of_week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5. device_fingerprint_match 11. is_high_amount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6. time_since_last_txn     12. is_cross_border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Key Insight: velocity_1h and amount_vs_avg_30d are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top predictors of fraud (highest correlation with target)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CC9F0"/>
                </a:solidFill>
              </a:defRPr>
            </a:pPr>
            <a:r>
              <a:t>Machine Learning — Ensemble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566160" cy="3200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72585"/>
                </a:solidFill>
              </a:defRPr>
            </a:pPr>
            <a:r>
              <a:t>Isolation Forest (25%)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6EDF3"/>
                </a:solidFill>
              </a:defRPr>
            </a:pPr>
            <a:r>
              <a:t>Unsupervised anomaly detection</a:t>
            </a:r>
            <a:br/>
            <a:r>
              <a:t>Catches novel fraud patterns</a:t>
            </a:r>
            <a:br/>
            <a:r>
              <a:t>scikit-learn, 200 estimators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566160" cy="3200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72585"/>
                </a:solidFill>
              </a:defRPr>
            </a:pPr>
            <a:r>
              <a:t>XGBoost (45%)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2860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6EDF3"/>
                </a:solidFill>
              </a:defRPr>
            </a:pPr>
            <a:r>
              <a:t>Supervised gradient boosting</a:t>
            </a:r>
            <a:br/>
            <a:r>
              <a:t>300 estimators, max_depth=8</a:t>
            </a:r>
            <a:br/>
            <a:r>
              <a:t>Best individual performance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63040"/>
            <a:ext cx="3566160" cy="3200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72585"/>
                </a:solidFill>
              </a:defRPr>
            </a:pPr>
            <a:r>
              <a:t>LSTM (30%) [Optional]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860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6EDF3"/>
                </a:solidFill>
              </a:defRPr>
            </a:pPr>
            <a:r>
              <a:t>Deep learning sequence model</a:t>
            </a:r>
            <a:br/>
            <a:r>
              <a:t>LSTM(128)→LSTM(64)→Dense</a:t>
            </a:r>
            <a:br/>
            <a:r>
              <a:t>Temporal pattern recognition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46320"/>
            <a:ext cx="1124712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F5D4"/>
                </a:solidFill>
              </a:defRPr>
            </a:pPr>
            <a:r>
              <a:t>Ensemble: Weighted voting → fraud_probability, risk_score (0-99), is_fraud classification</a:t>
            </a:r>
            <a:br/>
            <a:r>
              <a:t>Threshold: ≥0.5 = fraud | Falls back to amount-based heuristic if models unavailable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CC9F0"/>
                </a:solidFill>
              </a:defRPr>
            </a:pPr>
            <a:r>
              <a:t>Model Performance &amp; Evaluation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645920"/>
          <a:ext cx="10058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4CC9F0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4CC9F0"/>
                          </a:solidFill>
                        </a:defRPr>
                      </a:pPr>
                      <a:r>
                        <a:t>AUC-ROC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4CC9F0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4CC9F0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4CC9F0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E6EDF3"/>
                          </a:solidFill>
                        </a:defRPr>
                      </a:pPr>
                      <a:r>
                        <a:t>Isolation Forest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E6EDF3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E6EDF3"/>
                          </a:solidFill>
                        </a:defRPr>
                      </a:pPr>
                      <a:r>
                        <a:t>0.78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E6EDF3"/>
                          </a:solidFill>
                        </a:defRPr>
                      </a:pPr>
                      <a:r>
                        <a:t>0.82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E6EDF3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E6EDF3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E6EDF3"/>
                          </a:solidFill>
                        </a:defRPr>
                      </a:pPr>
                      <a:r>
                        <a:t>0.94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E6EDF3"/>
                          </a:solidFill>
                        </a:defRPr>
                      </a:pPr>
                      <a:r>
                        <a:t>0.91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E6EDF3"/>
                          </a:solidFill>
                        </a:defRPr>
                      </a:pPr>
                      <a:r>
                        <a:t>0.89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E6EDF3"/>
                          </a:solidFill>
                        </a:defRPr>
                      </a:pPr>
                      <a:r>
                        <a:t>0.90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E6EDF3"/>
                          </a:solidFill>
                        </a:defRPr>
                      </a:pPr>
                      <a:r>
                        <a:t>Ensemble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E6EDF3"/>
                          </a:solidFill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E6EDF3"/>
                          </a:solidFill>
                        </a:defRPr>
                      </a:pPr>
                      <a:r>
                        <a:t>0.92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E6EDF3"/>
                          </a:solidFill>
                        </a:defRPr>
                      </a:pPr>
                      <a:r>
                        <a:t>0.91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E6EDF3"/>
                          </a:solidFill>
                        </a:defRPr>
                      </a:pPr>
                      <a:r>
                        <a:t>0.91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029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F5D4"/>
                </a:solidFill>
              </a:defRPr>
            </a:pPr>
            <a:r>
              <a:t>Feature Importance: velocity_1h &gt; amount_vs_avg_30d &gt; geo_anomaly_score &gt; transaction_amount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CC9F0"/>
                </a:solidFill>
              </a:defRPr>
            </a:pPr>
            <a:r>
              <a:t>Visualizations &amp; Dashboards (Matplotlib)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5029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KPI Dashboard: Total txn, fraud count, fraud rate, avg risk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Time-Series: 24-hour transaction volume with fraud overlay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Region &amp; Channel Analysis: Fraud rate bar charts and heatmaps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Merchant Risk: Fraud rate ranking across 8 merchants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Fraud Type Distribution: Pie chart of fraud categories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Model Performance: ROC curves, confusion matrices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Feature Importance: XGBoost top predictive features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PCA Projection: Anomaly clusters — fraud vs clean separation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All visualizations generated using Matplotlib + Seaborn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CC9F0"/>
                </a:solidFill>
              </a:defRPr>
            </a:pPr>
            <a:r>
              <a:t>Technologies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5029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Apache Kafka — Real-time message streaming (4 topics)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Apache Spark — PySpark Structured Streaming + MLlib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PostgreSQL — Relational database for transactions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Redis — In-memory cache for live metrics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MongoDB — Document store for fraud alerts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scikit-learn — Isolation Forest anomaly detection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XGBoost — Gradient boosted decision trees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TensorFlow/Keras — LSTM deep learning (optional)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Matplotlib + Seaborn — Data visualization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FastAPI — REST API backend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Docker — Container orchestration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CC9F0"/>
                </a:solidFill>
              </a:defRPr>
            </a:pPr>
            <a:r>
              <a:t>Conclusion &amp; 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5029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Built an end-to-end Big Data pipeline for real-time fraud detection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Apache Kafka enables reliable, scalable streaming data ingestion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PySpark Structured Streaming provides distributed processing with windowing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Ensemble ML model achieves ~95% AUC-ROC, outperforming individual models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Multi-tier storage (PostgreSQL + Redis + MongoDB) for diverse data needs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Matplotlib dashboard delivers actionable fraud insights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Scalability: System can handle increased load through more Kafka partitions</a:t>
            </a:r>
          </a:p>
          <a:p>
            <a:pPr>
              <a:spcAft>
                <a:spcPts val="1000"/>
              </a:spcAft>
              <a:defRPr sz="2000">
                <a:solidFill>
                  <a:srgbClr val="E6EDF3"/>
                </a:solidFill>
              </a:defRPr>
            </a:pPr>
            <a:r>
              <a:t>and additional Spark workers — suitable for production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